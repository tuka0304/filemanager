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305" r:id="rId6"/>
    <p:sldId id="306" r:id="rId7"/>
    <p:sldId id="262" r:id="rId8"/>
    <p:sldId id="307" r:id="rId9"/>
    <p:sldId id="263" r:id="rId10"/>
    <p:sldId id="308" r:id="rId11"/>
    <p:sldId id="267" r:id="rId12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4"/>
      <p:bold r:id="rId15"/>
      <p:italic r:id="rId16"/>
      <p:boldItalic r:id="rId17"/>
    </p:embeddedFont>
    <p:embeddedFont>
      <p:font typeface="Montserrat ExtraBold" panose="00000900000000000000" pitchFamily="2" charset="0"/>
      <p:bold r:id="rId18"/>
      <p:boldItalic r:id="rId19"/>
    </p:embeddedFont>
    <p:embeddedFont>
      <p:font typeface="Montserrat ExtraLight" panose="00000300000000000000" pitchFamily="2" charset="0"/>
      <p:regular r:id="rId20"/>
      <p: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66EA70B-E566-4305-BA66-5743E1C7A4F6}">
  <a:tblStyle styleId="{566EA70B-E566-4305-BA66-5743E1C7A4F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7f9262ee2f_0_26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7f9262ee2f_0_26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7f9262ee2f_0_262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7f9262ee2f_0_262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7290233416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7290233416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32E1DEF4-AE0A-DA68-7301-DCEB816C8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7290233416_0_2:notes">
            <a:extLst>
              <a:ext uri="{FF2B5EF4-FFF2-40B4-BE49-F238E27FC236}">
                <a16:creationId xmlns:a16="http://schemas.microsoft.com/office/drawing/2014/main" id="{A7D98FF3-2E3B-74FE-E2C3-A2D83B33EF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7290233416_0_2:notes">
            <a:extLst>
              <a:ext uri="{FF2B5EF4-FFF2-40B4-BE49-F238E27FC236}">
                <a16:creationId xmlns:a16="http://schemas.microsoft.com/office/drawing/2014/main" id="{C1EF1E70-186F-DE13-9D8C-2002B45A3D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41195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E146CBD4-AFCC-D40C-BB34-FF80BD345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7290233416_0_2:notes">
            <a:extLst>
              <a:ext uri="{FF2B5EF4-FFF2-40B4-BE49-F238E27FC236}">
                <a16:creationId xmlns:a16="http://schemas.microsoft.com/office/drawing/2014/main" id="{C25E396A-6B81-B8CE-A360-AC5137B35E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7290233416_0_2:notes">
            <a:extLst>
              <a:ext uri="{FF2B5EF4-FFF2-40B4-BE49-F238E27FC236}">
                <a16:creationId xmlns:a16="http://schemas.microsoft.com/office/drawing/2014/main" id="{7ECF69EA-0FA4-7989-DC8F-188C009CBC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66912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7290233416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7290233416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>
          <a:extLst>
            <a:ext uri="{FF2B5EF4-FFF2-40B4-BE49-F238E27FC236}">
              <a16:creationId xmlns:a16="http://schemas.microsoft.com/office/drawing/2014/main" id="{0E15A060-24C6-C296-A124-03043302E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7290233416_0_12:notes">
            <a:extLst>
              <a:ext uri="{FF2B5EF4-FFF2-40B4-BE49-F238E27FC236}">
                <a16:creationId xmlns:a16="http://schemas.microsoft.com/office/drawing/2014/main" id="{7E37B0CB-1E59-4690-E02E-186B2AD0CB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7290233416_0_12:notes">
            <a:extLst>
              <a:ext uri="{FF2B5EF4-FFF2-40B4-BE49-F238E27FC236}">
                <a16:creationId xmlns:a16="http://schemas.microsoft.com/office/drawing/2014/main" id="{0A3F11C6-58B5-7814-8E13-2294BD0A6E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98683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7f9262ee2f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7f9262ee2f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>
          <a:extLst>
            <a:ext uri="{FF2B5EF4-FFF2-40B4-BE49-F238E27FC236}">
              <a16:creationId xmlns:a16="http://schemas.microsoft.com/office/drawing/2014/main" id="{F6C4DB29-C8B0-63D6-8E18-F372AF62A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7290233416_0_12:notes">
            <a:extLst>
              <a:ext uri="{FF2B5EF4-FFF2-40B4-BE49-F238E27FC236}">
                <a16:creationId xmlns:a16="http://schemas.microsoft.com/office/drawing/2014/main" id="{5D58C4FF-DD03-33E2-0F25-AA9D29105C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7290233416_0_12:notes">
            <a:extLst>
              <a:ext uri="{FF2B5EF4-FFF2-40B4-BE49-F238E27FC236}">
                <a16:creationId xmlns:a16="http://schemas.microsoft.com/office/drawing/2014/main" id="{C549C739-23A5-16CE-B2F6-B9545E89B7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27596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7f9262ee2f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7f9262ee2f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2175900" y="1950100"/>
            <a:ext cx="4792200" cy="6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044200" y="3704650"/>
            <a:ext cx="50556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938500" y="1659275"/>
            <a:ext cx="4946400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938500" y="1659275"/>
            <a:ext cx="3186900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2"/>
          </p:nvPr>
        </p:nvSpPr>
        <p:spPr>
          <a:xfrm>
            <a:off x="5037525" y="1659275"/>
            <a:ext cx="3186900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ullet Points">
  <p:cSld name="CAPTION_ONLY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1"/>
          </p:nvPr>
        </p:nvSpPr>
        <p:spPr>
          <a:xfrm>
            <a:off x="938500" y="1246025"/>
            <a:ext cx="7172100" cy="303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162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1pPr>
            <a:lvl2pPr marL="914400" lvl="1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2pPr>
            <a:lvl3pPr marL="1371600" lvl="2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3pPr>
            <a:lvl4pPr marL="1828800" lvl="3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4pPr>
            <a:lvl5pPr marL="2286000" lvl="4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5pPr>
            <a:lvl6pPr marL="2743200" lvl="5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6pPr>
            <a:lvl7pPr marL="3200400" lvl="6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7pPr>
            <a:lvl8pPr marL="3657600" lvl="7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8pPr>
            <a:lvl9pPr marL="4114800" lvl="8" indent="-301625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SECTION_TITLE_AND_DESCRIPTION_1_1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>
            <a:spLocks noGrp="1"/>
          </p:cNvSpPr>
          <p:nvPr>
            <p:ph type="title"/>
          </p:nvPr>
        </p:nvSpPr>
        <p:spPr>
          <a:xfrm>
            <a:off x="3538497" y="26155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14"/>
          <p:cNvSpPr txBox="1">
            <a:spLocks noGrp="1"/>
          </p:cNvSpPr>
          <p:nvPr>
            <p:ph type="subTitle" idx="1"/>
          </p:nvPr>
        </p:nvSpPr>
        <p:spPr>
          <a:xfrm>
            <a:off x="3538497" y="31480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title" idx="2"/>
          </p:nvPr>
        </p:nvSpPr>
        <p:spPr>
          <a:xfrm>
            <a:off x="6028553" y="26155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14"/>
          <p:cNvSpPr txBox="1">
            <a:spLocks noGrp="1"/>
          </p:cNvSpPr>
          <p:nvPr>
            <p:ph type="subTitle" idx="3"/>
          </p:nvPr>
        </p:nvSpPr>
        <p:spPr>
          <a:xfrm>
            <a:off x="6028553" y="31480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14"/>
          <p:cNvSpPr txBox="1">
            <a:spLocks noGrp="1"/>
          </p:cNvSpPr>
          <p:nvPr>
            <p:ph type="title" idx="4"/>
          </p:nvPr>
        </p:nvSpPr>
        <p:spPr>
          <a:xfrm>
            <a:off x="1048447" y="26155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0" name="Google Shape;50;p14"/>
          <p:cNvSpPr txBox="1">
            <a:spLocks noGrp="1"/>
          </p:cNvSpPr>
          <p:nvPr>
            <p:ph type="subTitle" idx="5"/>
          </p:nvPr>
        </p:nvSpPr>
        <p:spPr>
          <a:xfrm>
            <a:off x="1048447" y="31480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title" idx="6" hasCustomPrompt="1"/>
          </p:nvPr>
        </p:nvSpPr>
        <p:spPr>
          <a:xfrm>
            <a:off x="1048450" y="1770700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2" name="Google Shape;52;p14"/>
          <p:cNvSpPr txBox="1">
            <a:spLocks noGrp="1"/>
          </p:cNvSpPr>
          <p:nvPr>
            <p:ph type="title" idx="7" hasCustomPrompt="1"/>
          </p:nvPr>
        </p:nvSpPr>
        <p:spPr>
          <a:xfrm>
            <a:off x="3538500" y="1770700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3" name="Google Shape;53;p14"/>
          <p:cNvSpPr txBox="1">
            <a:spLocks noGrp="1"/>
          </p:cNvSpPr>
          <p:nvPr>
            <p:ph type="title" idx="8" hasCustomPrompt="1"/>
          </p:nvPr>
        </p:nvSpPr>
        <p:spPr>
          <a:xfrm>
            <a:off x="6028550" y="1770700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ext">
  <p:cSld name="TITLE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ctrTitle"/>
          </p:nvPr>
        </p:nvSpPr>
        <p:spPr>
          <a:xfrm>
            <a:off x="4285500" y="2832875"/>
            <a:ext cx="3657300" cy="644700"/>
          </a:xfrm>
          <a:prstGeom prst="rect">
            <a:avLst/>
          </a:prstGeom>
          <a:effectLst>
            <a:outerShdw blurRad="57150" dist="19050" dir="5400000" algn="bl" rotWithShape="0">
              <a:srgbClr val="76A5AF">
                <a:alpha val="88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subTitle" idx="1"/>
          </p:nvPr>
        </p:nvSpPr>
        <p:spPr>
          <a:xfrm>
            <a:off x="4144050" y="3549850"/>
            <a:ext cx="39402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wo Columns">
  <p:cSld name="SECTION_TITLE_AND_DESCRIPTION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7"/>
          <p:cNvSpPr txBox="1">
            <a:spLocks noGrp="1"/>
          </p:cNvSpPr>
          <p:nvPr>
            <p:ph type="title"/>
          </p:nvPr>
        </p:nvSpPr>
        <p:spPr>
          <a:xfrm>
            <a:off x="1937338" y="2463175"/>
            <a:ext cx="23901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2" name="Google Shape;62;p17"/>
          <p:cNvSpPr txBox="1">
            <a:spLocks noGrp="1"/>
          </p:cNvSpPr>
          <p:nvPr>
            <p:ph type="subTitle" idx="1"/>
          </p:nvPr>
        </p:nvSpPr>
        <p:spPr>
          <a:xfrm>
            <a:off x="1937338" y="3148075"/>
            <a:ext cx="23901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17"/>
          <p:cNvSpPr txBox="1">
            <a:spLocks noGrp="1"/>
          </p:cNvSpPr>
          <p:nvPr>
            <p:ph type="title" idx="2"/>
          </p:nvPr>
        </p:nvSpPr>
        <p:spPr>
          <a:xfrm>
            <a:off x="4816563" y="2463175"/>
            <a:ext cx="23901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4" name="Google Shape;64;p17"/>
          <p:cNvSpPr txBox="1">
            <a:spLocks noGrp="1"/>
          </p:cNvSpPr>
          <p:nvPr>
            <p:ph type="subTitle" idx="3"/>
          </p:nvPr>
        </p:nvSpPr>
        <p:spPr>
          <a:xfrm>
            <a:off x="4816563" y="3148075"/>
            <a:ext cx="23901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17"/>
          <p:cNvSpPr txBox="1">
            <a:spLocks noGrp="1"/>
          </p:cNvSpPr>
          <p:nvPr>
            <p:ph type="title" idx="4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ext">
  <p:cSld name="TITLE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ctrTitle"/>
          </p:nvPr>
        </p:nvSpPr>
        <p:spPr>
          <a:xfrm>
            <a:off x="1273500" y="1369000"/>
            <a:ext cx="6597000" cy="210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ubTitle" idx="1"/>
          </p:nvPr>
        </p:nvSpPr>
        <p:spPr>
          <a:xfrm>
            <a:off x="2481900" y="2519525"/>
            <a:ext cx="41802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 sz="2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8" r:id="rId4"/>
    <p:sldLayoutId id="2147483659" r:id="rId5"/>
    <p:sldLayoutId id="2147483660" r:id="rId6"/>
    <p:sldLayoutId id="2147483661" r:id="rId7"/>
    <p:sldLayoutId id="2147483663" r:id="rId8"/>
    <p:sldLayoutId id="2147483665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8"/>
          <p:cNvSpPr txBox="1">
            <a:spLocks noGrp="1"/>
          </p:cNvSpPr>
          <p:nvPr>
            <p:ph type="ctrTitle"/>
          </p:nvPr>
        </p:nvSpPr>
        <p:spPr>
          <a:xfrm>
            <a:off x="2175900" y="1950100"/>
            <a:ext cx="4792200" cy="644700"/>
          </a:xfrm>
          <a:prstGeom prst="rect">
            <a:avLst/>
          </a:prstGeom>
          <a:effectLst>
            <a:outerShdw blurRad="142875" dist="19050" dir="8760000" algn="bl" rotWithShape="0">
              <a:srgbClr val="76A5AF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Tập lệnh cơ bản của Linux và phân quyền truy cập</a:t>
            </a:r>
            <a:endParaRPr dirty="0"/>
          </a:p>
        </p:txBody>
      </p:sp>
      <p:sp>
        <p:nvSpPr>
          <p:cNvPr id="163" name="Google Shape;163;p38"/>
          <p:cNvSpPr txBox="1">
            <a:spLocks noGrp="1"/>
          </p:cNvSpPr>
          <p:nvPr>
            <p:ph type="subTitle" idx="1"/>
          </p:nvPr>
        </p:nvSpPr>
        <p:spPr>
          <a:xfrm>
            <a:off x="2044200" y="3704650"/>
            <a:ext cx="50556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Nhóm 7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GV hướng dẫn : ThS. Trần Văn Định</a:t>
            </a:r>
          </a:p>
        </p:txBody>
      </p:sp>
      <p:sp>
        <p:nvSpPr>
          <p:cNvPr id="164" name="Google Shape;164;p38"/>
          <p:cNvSpPr txBox="1">
            <a:spLocks noGrp="1"/>
          </p:cNvSpPr>
          <p:nvPr>
            <p:ph type="ctrTitle"/>
          </p:nvPr>
        </p:nvSpPr>
        <p:spPr>
          <a:xfrm>
            <a:off x="2887030" y="3474313"/>
            <a:ext cx="3369940" cy="116380"/>
          </a:xfrm>
          <a:prstGeom prst="rect">
            <a:avLst/>
          </a:prstGeom>
          <a:effectLst>
            <a:outerShdw blurRad="100013" dist="19050" dir="8460000" algn="bl" rotWithShape="0">
              <a:srgbClr val="76A5AF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0" dirty="0">
                <a:latin typeface="Montserrat ExtraLight"/>
                <a:ea typeface="Montserrat ExtraLight"/>
                <a:cs typeface="Montserrat ExtraLight"/>
                <a:sym typeface="Montserrat ExtraLight"/>
              </a:rPr>
              <a:t>Phân tích phần mềm mã nguồn mở</a:t>
            </a:r>
            <a:endParaRPr sz="2200" b="0" dirty="0">
              <a:latin typeface="Montserrat ExtraLight"/>
              <a:ea typeface="Montserrat ExtraLight"/>
              <a:cs typeface="Montserrat ExtraLight"/>
              <a:sym typeface="Montserrat ExtraLight"/>
            </a:endParaRPr>
          </a:p>
        </p:txBody>
      </p:sp>
      <p:cxnSp>
        <p:nvCxnSpPr>
          <p:cNvPr id="165" name="Google Shape;165;p38"/>
          <p:cNvCxnSpPr/>
          <p:nvPr/>
        </p:nvCxnSpPr>
        <p:spPr>
          <a:xfrm>
            <a:off x="3190500" y="256517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9"/>
          <p:cNvSpPr txBox="1">
            <a:spLocks noGrp="1"/>
          </p:cNvSpPr>
          <p:nvPr>
            <p:ph type="body" idx="1"/>
          </p:nvPr>
        </p:nvSpPr>
        <p:spPr>
          <a:xfrm>
            <a:off x="938500" y="1246025"/>
            <a:ext cx="5640720" cy="18019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  <a:p>
            <a:pPr lvl="0">
              <a:buClr>
                <a:schemeClr val="accent1"/>
              </a:buClr>
              <a:buFont typeface="Montserrat ExtraBold"/>
              <a:buAutoNum type="arabicPeriod"/>
            </a:pPr>
            <a:r>
              <a:rPr lang="en-US" sz="1600" dirty="0"/>
              <a:t>Linux </a:t>
            </a:r>
            <a:r>
              <a:rPr lang="en-US" sz="1600" dirty="0" err="1"/>
              <a:t>là</a:t>
            </a:r>
            <a:r>
              <a:rPr lang="en-US" sz="1600" dirty="0"/>
              <a:t> </a:t>
            </a:r>
            <a:r>
              <a:rPr lang="en-US" sz="1600" dirty="0" err="1"/>
              <a:t>hệ</a:t>
            </a:r>
            <a:r>
              <a:rPr lang="en-US" sz="1600" dirty="0"/>
              <a:t> </a:t>
            </a:r>
            <a:r>
              <a:rPr lang="en-US" sz="1600" dirty="0" err="1"/>
              <a:t>điều</a:t>
            </a:r>
            <a:r>
              <a:rPr lang="en-US" sz="1600" dirty="0"/>
              <a:t> </a:t>
            </a:r>
            <a:r>
              <a:rPr lang="en-US" sz="1600" dirty="0" err="1"/>
              <a:t>hành</a:t>
            </a:r>
            <a:r>
              <a:rPr lang="en-US" sz="1600" dirty="0"/>
              <a:t> </a:t>
            </a:r>
            <a:r>
              <a:rPr lang="en-US" sz="1600" dirty="0" err="1"/>
              <a:t>mã</a:t>
            </a:r>
            <a:r>
              <a:rPr lang="en-US" sz="1600" dirty="0"/>
              <a:t> </a:t>
            </a:r>
            <a:r>
              <a:rPr lang="en-US" sz="1600" dirty="0" err="1"/>
              <a:t>nguồn</a:t>
            </a:r>
            <a:r>
              <a:rPr lang="en-US" sz="1600" dirty="0"/>
              <a:t> </a:t>
            </a:r>
            <a:r>
              <a:rPr lang="en-US" sz="1600" dirty="0" err="1"/>
              <a:t>mở</a:t>
            </a:r>
            <a:r>
              <a:rPr lang="en-US" sz="1600" dirty="0"/>
              <a:t> </a:t>
            </a:r>
            <a:r>
              <a:rPr lang="en-US" sz="1600" dirty="0" err="1"/>
              <a:t>phổ</a:t>
            </a:r>
            <a:r>
              <a:rPr lang="en-US" sz="1600" dirty="0"/>
              <a:t> </a:t>
            </a:r>
            <a:r>
              <a:rPr lang="en-US" sz="1600" dirty="0" err="1"/>
              <a:t>biến</a:t>
            </a:r>
            <a:endParaRPr lang="en-US" sz="1600" dirty="0"/>
          </a:p>
          <a:p>
            <a:pPr lvl="0">
              <a:buClr>
                <a:schemeClr val="accent1"/>
              </a:buClr>
              <a:buFont typeface="Montserrat ExtraBold"/>
              <a:buAutoNum type="arabicPeriod"/>
            </a:pPr>
            <a:endParaRPr lang="en-US" sz="1600" dirty="0"/>
          </a:p>
          <a:p>
            <a:pPr lvl="0">
              <a:buClr>
                <a:schemeClr val="accent1"/>
              </a:buClr>
              <a:buFont typeface="Montserrat ExtraBold"/>
              <a:buAutoNum type="arabicPeriod"/>
            </a:pPr>
            <a:r>
              <a:rPr lang="vi-VN" sz="1600" dirty="0"/>
              <a:t>Được sử dụng rộng rãi trong server và cloud</a:t>
            </a:r>
            <a:endParaRPr lang="en-US" sz="1600" dirty="0"/>
          </a:p>
          <a:p>
            <a:pPr lvl="0">
              <a:buClr>
                <a:schemeClr val="accent1"/>
              </a:buClr>
              <a:buFont typeface="Montserrat ExtraBold"/>
              <a:buAutoNum type="arabicPeriod"/>
            </a:pPr>
            <a:endParaRPr lang="en-US" sz="1600" dirty="0"/>
          </a:p>
          <a:p>
            <a:pPr lvl="0">
              <a:buClr>
                <a:schemeClr val="accent1"/>
              </a:buClr>
              <a:buFont typeface="Montserrat ExtraBold"/>
              <a:buAutoNum type="arabicPeriod"/>
            </a:pPr>
            <a:r>
              <a:rPr lang="en-US" sz="1600" dirty="0" err="1"/>
              <a:t>Hỗ</a:t>
            </a:r>
            <a:r>
              <a:rPr lang="en-US" sz="1600" dirty="0"/>
              <a:t> </a:t>
            </a:r>
            <a:r>
              <a:rPr lang="en-US" sz="1600" dirty="0" err="1"/>
              <a:t>trợ</a:t>
            </a:r>
            <a:r>
              <a:rPr lang="en-US" sz="1600" dirty="0"/>
              <a:t> </a:t>
            </a:r>
            <a:r>
              <a:rPr lang="en-US" sz="1600" dirty="0" err="1"/>
              <a:t>quản</a:t>
            </a:r>
            <a:r>
              <a:rPr lang="en-US" sz="1600" dirty="0"/>
              <a:t> </a:t>
            </a:r>
            <a:r>
              <a:rPr lang="en-US" sz="1600" dirty="0" err="1"/>
              <a:t>lý</a:t>
            </a:r>
            <a:r>
              <a:rPr lang="en-US" sz="1600" dirty="0"/>
              <a:t> </a:t>
            </a:r>
            <a:r>
              <a:rPr lang="en-US" sz="1600" dirty="0" err="1"/>
              <a:t>hệ</a:t>
            </a:r>
            <a:r>
              <a:rPr lang="en-US" sz="1600" dirty="0"/>
              <a:t> </a:t>
            </a:r>
            <a:r>
              <a:rPr lang="en-US" sz="1600" dirty="0" err="1"/>
              <a:t>thống</a:t>
            </a:r>
            <a:r>
              <a:rPr lang="en-US" sz="1600" dirty="0"/>
              <a:t> </a:t>
            </a:r>
            <a:r>
              <a:rPr lang="en-US" sz="1600" dirty="0" err="1"/>
              <a:t>bằng</a:t>
            </a:r>
            <a:r>
              <a:rPr lang="en-US" sz="1600" dirty="0"/>
              <a:t> </a:t>
            </a:r>
            <a:r>
              <a:rPr lang="en-US" sz="1600" dirty="0" err="1"/>
              <a:t>dòng</a:t>
            </a:r>
            <a:r>
              <a:rPr lang="en-US" sz="1600" dirty="0"/>
              <a:t> </a:t>
            </a:r>
            <a:r>
              <a:rPr lang="en-US" sz="1600" dirty="0" err="1"/>
              <a:t>lệnh</a:t>
            </a:r>
            <a:endParaRPr lang="en-US" sz="1600" dirty="0"/>
          </a:p>
          <a:p>
            <a:pPr marL="155575" indent="0">
              <a:buClr>
                <a:schemeClr val="accent1"/>
              </a:buClr>
              <a:buNone/>
            </a:pPr>
            <a:endParaRPr lang="en-US" sz="1600" dirty="0"/>
          </a:p>
          <a:p>
            <a:pPr marL="155575" indent="0">
              <a:buClr>
                <a:schemeClr val="accent1"/>
              </a:buClr>
              <a:buNone/>
            </a:pPr>
            <a:r>
              <a:rPr lang="vi-VN" sz="1600" dirty="0"/>
              <a:t>Linux được phát triển bởi</a:t>
            </a:r>
            <a:br>
              <a:rPr lang="vi-VN" sz="1600" dirty="0"/>
            </a:br>
            <a:r>
              <a:rPr lang="vi-VN" sz="1600" dirty="0"/>
              <a:t>Linus Torvalds.</a:t>
            </a:r>
          </a:p>
          <a:p>
            <a:pPr marL="155575" lvl="0" indent="0">
              <a:buClr>
                <a:schemeClr val="accent1"/>
              </a:buClr>
              <a:buNone/>
            </a:pPr>
            <a:endParaRPr sz="1600" dirty="0"/>
          </a:p>
        </p:txBody>
      </p:sp>
      <p:cxnSp>
        <p:nvCxnSpPr>
          <p:cNvPr id="172" name="Google Shape;172;p39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3" name="Title 2">
            <a:extLst>
              <a:ext uri="{FF2B5EF4-FFF2-40B4-BE49-F238E27FC236}">
                <a16:creationId xmlns:a16="http://schemas.microsoft.com/office/drawing/2014/main" id="{102BCF39-7711-BAE2-798A-DEC4B0128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0"/>
          <p:cNvSpPr txBox="1">
            <a:spLocks noGrp="1"/>
          </p:cNvSpPr>
          <p:nvPr>
            <p:ph type="title" idx="6"/>
          </p:nvPr>
        </p:nvSpPr>
        <p:spPr>
          <a:xfrm>
            <a:off x="1048450" y="1770700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79" name="Google Shape;179;p40"/>
          <p:cNvSpPr txBox="1">
            <a:spLocks noGrp="1"/>
          </p:cNvSpPr>
          <p:nvPr>
            <p:ph type="title"/>
          </p:nvPr>
        </p:nvSpPr>
        <p:spPr>
          <a:xfrm>
            <a:off x="3538496" y="2901672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2000" dirty="0" err="1"/>
              <a:t>Zsh</a:t>
            </a:r>
            <a:endParaRPr sz="2000" dirty="0"/>
          </a:p>
        </p:txBody>
      </p:sp>
      <p:sp>
        <p:nvSpPr>
          <p:cNvPr id="181" name="Google Shape;181;p40"/>
          <p:cNvSpPr txBox="1">
            <a:spLocks noGrp="1"/>
          </p:cNvSpPr>
          <p:nvPr>
            <p:ph type="title" idx="2"/>
          </p:nvPr>
        </p:nvSpPr>
        <p:spPr>
          <a:xfrm>
            <a:off x="6102891" y="2901672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2000" dirty="0"/>
              <a:t>Fish</a:t>
            </a:r>
            <a:endParaRPr sz="2000" dirty="0"/>
          </a:p>
        </p:txBody>
      </p:sp>
      <p:sp>
        <p:nvSpPr>
          <p:cNvPr id="183" name="Google Shape;183;p40"/>
          <p:cNvSpPr txBox="1">
            <a:spLocks noGrp="1"/>
          </p:cNvSpPr>
          <p:nvPr>
            <p:ph type="title" idx="4"/>
          </p:nvPr>
        </p:nvSpPr>
        <p:spPr>
          <a:xfrm>
            <a:off x="1048441" y="28897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2000" dirty="0"/>
              <a:t>Bash</a:t>
            </a:r>
            <a:endParaRPr sz="2000" dirty="0"/>
          </a:p>
        </p:txBody>
      </p:sp>
      <p:sp>
        <p:nvSpPr>
          <p:cNvPr id="185" name="Google Shape;185;p40"/>
          <p:cNvSpPr txBox="1">
            <a:spLocks noGrp="1"/>
          </p:cNvSpPr>
          <p:nvPr>
            <p:ph type="title" idx="7"/>
          </p:nvPr>
        </p:nvSpPr>
        <p:spPr>
          <a:xfrm>
            <a:off x="3538500" y="1770700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86" name="Google Shape;186;p40"/>
          <p:cNvSpPr txBox="1">
            <a:spLocks noGrp="1"/>
          </p:cNvSpPr>
          <p:nvPr>
            <p:ph type="title" idx="8"/>
          </p:nvPr>
        </p:nvSpPr>
        <p:spPr>
          <a:xfrm>
            <a:off x="6028550" y="1770700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cxnSp>
        <p:nvCxnSpPr>
          <p:cNvPr id="187" name="Google Shape;187;p40"/>
          <p:cNvCxnSpPr/>
          <p:nvPr/>
        </p:nvCxnSpPr>
        <p:spPr>
          <a:xfrm>
            <a:off x="1883350" y="2546160"/>
            <a:ext cx="397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188" name="Google Shape;188;p40"/>
          <p:cNvCxnSpPr/>
          <p:nvPr/>
        </p:nvCxnSpPr>
        <p:spPr>
          <a:xfrm>
            <a:off x="4373400" y="2546160"/>
            <a:ext cx="397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189" name="Google Shape;189;p40"/>
          <p:cNvCxnSpPr/>
          <p:nvPr/>
        </p:nvCxnSpPr>
        <p:spPr>
          <a:xfrm>
            <a:off x="6863450" y="2546160"/>
            <a:ext cx="397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170" name="Google Shape;170;p39"/>
          <p:cNvSpPr txBox="1">
            <a:spLocks/>
          </p:cNvSpPr>
          <p:nvPr/>
        </p:nvSpPr>
        <p:spPr>
          <a:xfrm>
            <a:off x="2865897" y="573235"/>
            <a:ext cx="3412197" cy="565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  <a:defRPr sz="18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l"/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Shell </a:t>
            </a:r>
            <a:r>
              <a:rPr lang="en-US" sz="2400" dirty="0" err="1">
                <a:solidFill>
                  <a:schemeClr val="tx2">
                    <a:lumMod val="75000"/>
                  </a:schemeClr>
                </a:solidFill>
              </a:rPr>
              <a:t>và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 Terminal</a:t>
            </a:r>
          </a:p>
        </p:txBody>
      </p:sp>
      <p:sp>
        <p:nvSpPr>
          <p:cNvPr id="9" name="Google Shape;179;p40">
            <a:extLst>
              <a:ext uri="{FF2B5EF4-FFF2-40B4-BE49-F238E27FC236}">
                <a16:creationId xmlns:a16="http://schemas.microsoft.com/office/drawing/2014/main" id="{5500DE8B-7D3F-07F3-A691-85DBCFC92FC0}"/>
              </a:ext>
            </a:extLst>
          </p:cNvPr>
          <p:cNvSpPr txBox="1">
            <a:spLocks/>
          </p:cNvSpPr>
          <p:nvPr/>
        </p:nvSpPr>
        <p:spPr>
          <a:xfrm>
            <a:off x="2958179" y="1222300"/>
            <a:ext cx="2830441" cy="5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  <a:defRPr sz="18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 dirty="0"/>
              <a:t>Các shell </a:t>
            </a:r>
            <a:r>
              <a:rPr lang="en-US" dirty="0" err="1"/>
              <a:t>phổ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:</a:t>
            </a:r>
          </a:p>
        </p:txBody>
      </p:sp>
      <p:sp>
        <p:nvSpPr>
          <p:cNvPr id="10" name="Google Shape;181;p40">
            <a:extLst>
              <a:ext uri="{FF2B5EF4-FFF2-40B4-BE49-F238E27FC236}">
                <a16:creationId xmlns:a16="http://schemas.microsoft.com/office/drawing/2014/main" id="{628A7D4A-BD6D-52ED-36A3-231B62B21E17}"/>
              </a:ext>
            </a:extLst>
          </p:cNvPr>
          <p:cNvSpPr txBox="1">
            <a:spLocks/>
          </p:cNvSpPr>
          <p:nvPr/>
        </p:nvSpPr>
        <p:spPr>
          <a:xfrm>
            <a:off x="2565759" y="3921200"/>
            <a:ext cx="4012472" cy="5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  <a:defRPr sz="18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vi-VN" sz="1600" dirty="0"/>
              <a:t>Terminal là nơi nhập và thực thi các lệnh.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1"/>
          <p:cNvSpPr txBox="1">
            <a:spLocks noGrp="1"/>
          </p:cNvSpPr>
          <p:nvPr>
            <p:ph type="ctrTitle"/>
          </p:nvPr>
        </p:nvSpPr>
        <p:spPr>
          <a:xfrm>
            <a:off x="3958196" y="528855"/>
            <a:ext cx="4999950" cy="6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vi-VN" sz="3200" dirty="0"/>
              <a:t>Các lệnh Linux cơ bản</a:t>
            </a:r>
            <a:endParaRPr sz="32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D987FE2-5F2C-C417-62A1-E62BF1F048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8228834"/>
              </p:ext>
            </p:extLst>
          </p:nvPr>
        </p:nvGraphicFramePr>
        <p:xfrm>
          <a:off x="4135531" y="1657350"/>
          <a:ext cx="4770576" cy="1828800"/>
        </p:xfrm>
        <a:graphic>
          <a:graphicData uri="http://schemas.openxmlformats.org/drawingml/2006/table">
            <a:tbl>
              <a:tblPr/>
              <a:tblGrid>
                <a:gridCol w="2153756">
                  <a:extLst>
                    <a:ext uri="{9D8B030D-6E8A-4147-A177-3AD203B41FA5}">
                      <a16:colId xmlns:a16="http://schemas.microsoft.com/office/drawing/2014/main" val="33230685"/>
                    </a:ext>
                  </a:extLst>
                </a:gridCol>
                <a:gridCol w="2616820">
                  <a:extLst>
                    <a:ext uri="{9D8B030D-6E8A-4147-A177-3AD203B41FA5}">
                      <a16:colId xmlns:a16="http://schemas.microsoft.com/office/drawing/2014/main" val="29271029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Lệnh</a:t>
                      </a:r>
                      <a:endParaRPr lang="en-US" b="1" dirty="0">
                        <a:solidFill>
                          <a:schemeClr val="tx2">
                            <a:lumMod val="75000"/>
                          </a:schemeClr>
                        </a:solidFill>
                        <a:latin typeface="Montserrat" panose="000005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Chức</a:t>
                      </a:r>
                      <a:r>
                        <a:rPr lang="en-US" b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năng</a:t>
                      </a:r>
                      <a:endParaRPr lang="en-US" b="1" dirty="0">
                        <a:solidFill>
                          <a:schemeClr val="tx2">
                            <a:lumMod val="75000"/>
                          </a:schemeClr>
                        </a:solidFill>
                        <a:latin typeface="Montserrat" panose="000005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80284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pwd</a:t>
                      </a:r>
                      <a:endParaRPr lang="en-US" b="1" dirty="0">
                        <a:solidFill>
                          <a:schemeClr val="tx2">
                            <a:lumMod val="75000"/>
                          </a:schemeClr>
                        </a:solidFill>
                        <a:latin typeface="Montserrat" panose="000005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vi-VN" b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xem thư mục hiện tại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6187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liệt</a:t>
                      </a:r>
                      <a:r>
                        <a:rPr lang="en-US" b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kê</a:t>
                      </a:r>
                      <a:r>
                        <a:rPr lang="en-US" b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 file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8511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cd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vi-VN" b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chuyển thư mục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31073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mkdir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vi-VN" b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tạo thư mục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48021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xóa</a:t>
                      </a:r>
                      <a:r>
                        <a:rPr lang="en-US" b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 file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082709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>
          <a:extLst>
            <a:ext uri="{FF2B5EF4-FFF2-40B4-BE49-F238E27FC236}">
              <a16:creationId xmlns:a16="http://schemas.microsoft.com/office/drawing/2014/main" id="{30E3094E-E93C-5725-4E64-27BABF715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1">
            <a:extLst>
              <a:ext uri="{FF2B5EF4-FFF2-40B4-BE49-F238E27FC236}">
                <a16:creationId xmlns:a16="http://schemas.microsoft.com/office/drawing/2014/main" id="{B1D5B69A-FC37-6C9F-02E9-8C8E1B89996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144050" y="484250"/>
            <a:ext cx="4590871" cy="6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200" dirty="0"/>
              <a:t>Quản </a:t>
            </a:r>
            <a:r>
              <a:rPr lang="en-US" sz="3200" dirty="0" err="1"/>
              <a:t>lý</a:t>
            </a:r>
            <a:r>
              <a:rPr lang="en-US" sz="3200" dirty="0"/>
              <a:t> file</a:t>
            </a:r>
            <a:endParaRPr sz="3200" dirty="0"/>
          </a:p>
        </p:txBody>
      </p:sp>
      <p:sp>
        <p:nvSpPr>
          <p:cNvPr id="195" name="Google Shape;195;p41">
            <a:extLst>
              <a:ext uri="{FF2B5EF4-FFF2-40B4-BE49-F238E27FC236}">
                <a16:creationId xmlns:a16="http://schemas.microsoft.com/office/drawing/2014/main" id="{712C4F52-E46B-4D19-4122-DE7FD54A78C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572000" y="1572367"/>
            <a:ext cx="39402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2000" dirty="0" err="1"/>
              <a:t>mkdir</a:t>
            </a:r>
            <a:r>
              <a:rPr lang="en-US" sz="2000" dirty="0"/>
              <a:t> demo</a:t>
            </a:r>
          </a:p>
          <a:p>
            <a:pPr marL="0" lvl="0" indent="0"/>
            <a:r>
              <a:rPr lang="en-US" sz="2000" dirty="0"/>
              <a:t>cd demo</a:t>
            </a:r>
          </a:p>
          <a:p>
            <a:pPr marL="0" lvl="0" indent="0"/>
            <a:r>
              <a:rPr lang="en-US" sz="2000" dirty="0"/>
              <a:t>touch file.txt</a:t>
            </a:r>
          </a:p>
          <a:p>
            <a:pPr marL="0" lvl="0" indent="0"/>
            <a:r>
              <a:rPr lang="en-US" sz="2000" dirty="0"/>
              <a:t>ls</a:t>
            </a:r>
            <a:endParaRPr sz="2000" dirty="0"/>
          </a:p>
        </p:txBody>
      </p:sp>
      <p:sp>
        <p:nvSpPr>
          <p:cNvPr id="3" name="Google Shape;171;p39">
            <a:extLst>
              <a:ext uri="{FF2B5EF4-FFF2-40B4-BE49-F238E27FC236}">
                <a16:creationId xmlns:a16="http://schemas.microsoft.com/office/drawing/2014/main" id="{7C43E9E7-3BEE-79FA-FFA9-BD7503A392D3}"/>
              </a:ext>
            </a:extLst>
          </p:cNvPr>
          <p:cNvSpPr txBox="1">
            <a:spLocks/>
          </p:cNvSpPr>
          <p:nvPr/>
        </p:nvSpPr>
        <p:spPr>
          <a:xfrm>
            <a:off x="3721740" y="3260678"/>
            <a:ext cx="5640720" cy="180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vi-VN" sz="1600" dirty="0">
                <a:solidFill>
                  <a:schemeClr val="bg1"/>
                </a:solidFill>
              </a:rPr>
              <a:t>Các lệnh này dùng để:</a:t>
            </a:r>
          </a:p>
          <a:p>
            <a:r>
              <a:rPr lang="vi-VN" sz="1600" dirty="0">
                <a:solidFill>
                  <a:schemeClr val="bg1"/>
                </a:solidFill>
              </a:rPr>
              <a:t>tạo thư mục</a:t>
            </a:r>
          </a:p>
          <a:p>
            <a:r>
              <a:rPr lang="vi-VN" sz="1600" dirty="0">
                <a:solidFill>
                  <a:schemeClr val="bg1"/>
                </a:solidFill>
              </a:rPr>
              <a:t>tạo file</a:t>
            </a:r>
          </a:p>
          <a:p>
            <a:r>
              <a:rPr lang="vi-VN" sz="1600" dirty="0">
                <a:solidFill>
                  <a:schemeClr val="bg1"/>
                </a:solidFill>
              </a:rPr>
              <a:t>quản lý dữ liệu</a:t>
            </a:r>
          </a:p>
        </p:txBody>
      </p:sp>
    </p:spTree>
    <p:extLst>
      <p:ext uri="{BB962C8B-B14F-4D97-AF65-F5344CB8AC3E}">
        <p14:creationId xmlns:p14="http://schemas.microsoft.com/office/powerpoint/2010/main" val="3104561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>
          <a:extLst>
            <a:ext uri="{FF2B5EF4-FFF2-40B4-BE49-F238E27FC236}">
              <a16:creationId xmlns:a16="http://schemas.microsoft.com/office/drawing/2014/main" id="{91D82A23-A3AA-0D5E-9B1E-C6181633D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1">
            <a:extLst>
              <a:ext uri="{FF2B5EF4-FFF2-40B4-BE49-F238E27FC236}">
                <a16:creationId xmlns:a16="http://schemas.microsoft.com/office/drawing/2014/main" id="{2E1E373D-B0FC-9E37-37C4-696B580101F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471746" y="506552"/>
            <a:ext cx="5560541" cy="6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200" dirty="0"/>
              <a:t>File System </a:t>
            </a:r>
            <a:r>
              <a:rPr lang="en-US" sz="3200" dirty="0" err="1"/>
              <a:t>trong</a:t>
            </a:r>
            <a:r>
              <a:rPr lang="en-US" sz="3200" dirty="0"/>
              <a:t> Linux</a:t>
            </a:r>
            <a:endParaRPr sz="3200" dirty="0"/>
          </a:p>
        </p:txBody>
      </p:sp>
      <p:sp>
        <p:nvSpPr>
          <p:cNvPr id="195" name="Google Shape;195;p41">
            <a:extLst>
              <a:ext uri="{FF2B5EF4-FFF2-40B4-BE49-F238E27FC236}">
                <a16:creationId xmlns:a16="http://schemas.microsoft.com/office/drawing/2014/main" id="{4A5BB216-5F14-F291-195C-D017E0644C9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281916" y="1151252"/>
            <a:ext cx="39402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2000" dirty="0"/>
              <a:t>Linux </a:t>
            </a:r>
            <a:r>
              <a:rPr lang="en-US" sz="2000" dirty="0" err="1"/>
              <a:t>tổ</a:t>
            </a:r>
            <a:r>
              <a:rPr lang="en-US" sz="2000" dirty="0"/>
              <a:t> </a:t>
            </a:r>
            <a:r>
              <a:rPr lang="en-US" sz="2000" dirty="0" err="1"/>
              <a:t>chức</a:t>
            </a:r>
            <a:r>
              <a:rPr lang="en-US" sz="2000" dirty="0"/>
              <a:t> </a:t>
            </a:r>
            <a:r>
              <a:rPr lang="en-US" sz="2000" dirty="0" err="1"/>
              <a:t>dữ</a:t>
            </a:r>
            <a:r>
              <a:rPr lang="en-US" sz="2000" dirty="0"/>
              <a:t> </a:t>
            </a:r>
            <a:r>
              <a:rPr lang="en-US" sz="2000" dirty="0" err="1"/>
              <a:t>liệu</a:t>
            </a:r>
            <a:r>
              <a:rPr lang="en-US" sz="2000" dirty="0"/>
              <a:t> </a:t>
            </a:r>
            <a:r>
              <a:rPr lang="en-US" sz="2000" dirty="0" err="1"/>
              <a:t>theo</a:t>
            </a:r>
            <a:r>
              <a:rPr lang="en-US" sz="2000" dirty="0"/>
              <a:t> </a:t>
            </a:r>
            <a:r>
              <a:rPr lang="en-US" sz="2000" b="1" dirty="0" err="1"/>
              <a:t>cấu</a:t>
            </a:r>
            <a:r>
              <a:rPr lang="en-US" sz="2000" b="1" dirty="0"/>
              <a:t> </a:t>
            </a:r>
            <a:r>
              <a:rPr lang="en-US" sz="2000" b="1" dirty="0" err="1"/>
              <a:t>trúc</a:t>
            </a:r>
            <a:r>
              <a:rPr lang="en-US" sz="2000" b="1" dirty="0"/>
              <a:t> </a:t>
            </a:r>
            <a:r>
              <a:rPr lang="en-US" sz="2000" b="1" dirty="0" err="1"/>
              <a:t>cây</a:t>
            </a:r>
            <a:r>
              <a:rPr lang="en-US" sz="2000" dirty="0"/>
              <a:t> </a:t>
            </a:r>
            <a:r>
              <a:rPr lang="en-US" sz="2000" dirty="0" err="1"/>
              <a:t>bắt</a:t>
            </a:r>
            <a:r>
              <a:rPr lang="en-US" sz="2000" dirty="0"/>
              <a:t> </a:t>
            </a:r>
            <a:r>
              <a:rPr lang="en-US" sz="2000" dirty="0" err="1"/>
              <a:t>đầu</a:t>
            </a:r>
            <a:r>
              <a:rPr lang="en-US" sz="2000" dirty="0"/>
              <a:t> </a:t>
            </a:r>
            <a:r>
              <a:rPr lang="en-US" sz="2000" dirty="0" err="1"/>
              <a:t>từ</a:t>
            </a:r>
            <a:r>
              <a:rPr lang="en-US" sz="2000" dirty="0"/>
              <a:t> </a:t>
            </a:r>
            <a:r>
              <a:rPr lang="en-US" dirty="0"/>
              <a:t>/</a:t>
            </a:r>
          </a:p>
          <a:p>
            <a:pPr marL="0" lvl="0" indent="0"/>
            <a:endParaRPr lang="en-US" sz="2000" dirty="0"/>
          </a:p>
          <a:p>
            <a:r>
              <a:rPr lang="vi-VN" sz="2000" dirty="0"/>
              <a:t>Các thư mục quan trọng:</a:t>
            </a:r>
          </a:p>
          <a:p>
            <a:r>
              <a:rPr lang="vi-VN" sz="2000" dirty="0"/>
              <a:t>/home</a:t>
            </a:r>
          </a:p>
          <a:p>
            <a:r>
              <a:rPr lang="vi-VN" sz="2000" dirty="0"/>
              <a:t>/etc</a:t>
            </a:r>
          </a:p>
          <a:p>
            <a:r>
              <a:rPr lang="vi-VN" sz="2000" dirty="0"/>
              <a:t>/bin</a:t>
            </a:r>
          </a:p>
          <a:p>
            <a:r>
              <a:rPr lang="vi-VN" sz="2000" dirty="0"/>
              <a:t>/var</a:t>
            </a:r>
          </a:p>
          <a:p>
            <a:r>
              <a:rPr lang="vi-VN" sz="2000" dirty="0"/>
              <a:t>File system phổ biến:</a:t>
            </a:r>
          </a:p>
          <a:p>
            <a:r>
              <a:rPr lang="vi-VN" sz="2000" dirty="0"/>
              <a:t>ext4</a:t>
            </a:r>
          </a:p>
          <a:p>
            <a:r>
              <a:rPr lang="vi-VN" sz="2000" dirty="0"/>
              <a:t>xfs</a:t>
            </a:r>
          </a:p>
          <a:p>
            <a:r>
              <a:rPr lang="vi-VN" sz="2000" dirty="0"/>
              <a:t>btrfs</a:t>
            </a:r>
          </a:p>
        </p:txBody>
      </p:sp>
    </p:spTree>
    <p:extLst>
      <p:ext uri="{BB962C8B-B14F-4D97-AF65-F5344CB8AC3E}">
        <p14:creationId xmlns:p14="http://schemas.microsoft.com/office/powerpoint/2010/main" val="253406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4"/>
          <p:cNvSpPr txBox="1">
            <a:spLocks noGrp="1"/>
          </p:cNvSpPr>
          <p:nvPr>
            <p:ph type="title"/>
          </p:nvPr>
        </p:nvSpPr>
        <p:spPr>
          <a:xfrm>
            <a:off x="938500" y="326078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quyền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Linux</a:t>
            </a:r>
            <a:br>
              <a:rPr lang="en-US" dirty="0"/>
            </a:br>
            <a:endParaRPr dirty="0">
              <a:solidFill>
                <a:schemeClr val="accent1"/>
              </a:solidFill>
            </a:endParaRPr>
          </a:p>
        </p:txBody>
      </p:sp>
      <p:cxnSp>
        <p:nvCxnSpPr>
          <p:cNvPr id="216" name="Google Shape;216;p44"/>
          <p:cNvCxnSpPr/>
          <p:nvPr/>
        </p:nvCxnSpPr>
        <p:spPr>
          <a:xfrm>
            <a:off x="1026200" y="295075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2" name="Google Shape;215;p44">
            <a:extLst>
              <a:ext uri="{FF2B5EF4-FFF2-40B4-BE49-F238E27FC236}">
                <a16:creationId xmlns:a16="http://schemas.microsoft.com/office/drawing/2014/main" id="{9B419888-D7D8-40FA-A531-2E63D31642E0}"/>
              </a:ext>
            </a:extLst>
          </p:cNvPr>
          <p:cNvSpPr txBox="1">
            <a:spLocks/>
          </p:cNvSpPr>
          <p:nvPr/>
        </p:nvSpPr>
        <p:spPr>
          <a:xfrm>
            <a:off x="783678" y="796778"/>
            <a:ext cx="4208811" cy="501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139700" indent="0">
              <a:buNone/>
            </a:pPr>
            <a:r>
              <a:rPr lang="en-US" sz="2000" dirty="0"/>
              <a:t>Linux </a:t>
            </a:r>
            <a:r>
              <a:rPr lang="en-US" sz="2000" dirty="0" err="1"/>
              <a:t>có</a:t>
            </a:r>
            <a:r>
              <a:rPr lang="en-US" sz="2000" dirty="0"/>
              <a:t> 3 </a:t>
            </a:r>
            <a:r>
              <a:rPr lang="en-US" sz="2000" dirty="0" err="1"/>
              <a:t>nhóm</a:t>
            </a:r>
            <a:r>
              <a:rPr lang="en-US" sz="2000" dirty="0"/>
              <a:t> </a:t>
            </a:r>
            <a:r>
              <a:rPr lang="en-US" sz="2000" dirty="0" err="1"/>
              <a:t>quyền</a:t>
            </a:r>
            <a:r>
              <a:rPr lang="en-US" sz="2000" dirty="0"/>
              <a:t>: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C5348E9-E97C-98C0-5871-6B7ACDA8DD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4230390"/>
              </p:ext>
            </p:extLst>
          </p:nvPr>
        </p:nvGraphicFramePr>
        <p:xfrm>
          <a:off x="311150" y="2132128"/>
          <a:ext cx="5480050" cy="1219200"/>
        </p:xfrm>
        <a:graphic>
          <a:graphicData uri="http://schemas.openxmlformats.org/drawingml/2006/table">
            <a:tbl>
              <a:tblPr/>
              <a:tblGrid>
                <a:gridCol w="2253630">
                  <a:extLst>
                    <a:ext uri="{9D8B030D-6E8A-4147-A177-3AD203B41FA5}">
                      <a16:colId xmlns:a16="http://schemas.microsoft.com/office/drawing/2014/main" val="1317364469"/>
                    </a:ext>
                  </a:extLst>
                </a:gridCol>
                <a:gridCol w="3226420">
                  <a:extLst>
                    <a:ext uri="{9D8B030D-6E8A-4147-A177-3AD203B41FA5}">
                      <a16:colId xmlns:a16="http://schemas.microsoft.com/office/drawing/2014/main" val="38617585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Nhóm</a:t>
                      </a:r>
                      <a:endParaRPr lang="en-US" dirty="0">
                        <a:solidFill>
                          <a:schemeClr val="tx2">
                            <a:lumMod val="75000"/>
                          </a:schemeClr>
                        </a:solidFill>
                        <a:latin typeface="Montserrat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Ý </a:t>
                      </a:r>
                      <a:r>
                        <a:rPr lang="en-US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nghĩa</a:t>
                      </a:r>
                      <a:endParaRPr lang="en-US" dirty="0">
                        <a:solidFill>
                          <a:schemeClr val="tx2">
                            <a:lumMod val="75000"/>
                          </a:schemeClr>
                        </a:solidFill>
                        <a:latin typeface="Montserrat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65849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2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User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chủ</a:t>
                      </a:r>
                      <a:r>
                        <a:rPr lang="en-US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sở</a:t>
                      </a:r>
                      <a:r>
                        <a:rPr lang="en-US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hữu</a:t>
                      </a:r>
                      <a:endParaRPr lang="en-US" dirty="0">
                        <a:solidFill>
                          <a:schemeClr val="tx2">
                            <a:lumMod val="75000"/>
                          </a:schemeClr>
                        </a:solidFill>
                        <a:latin typeface="Montserrat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99891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2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Group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nhóm</a:t>
                      </a:r>
                      <a:endParaRPr lang="en-US" dirty="0">
                        <a:solidFill>
                          <a:schemeClr val="tx2">
                            <a:lumMod val="75000"/>
                          </a:schemeClr>
                        </a:solidFill>
                        <a:latin typeface="Montserrat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879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2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Others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vi-VN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người dùng khác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687008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4F0DADA-B68E-7321-83AE-3B3C86C40F06}"/>
              </a:ext>
            </a:extLst>
          </p:cNvPr>
          <p:cNvSpPr txBox="1"/>
          <p:nvPr/>
        </p:nvSpPr>
        <p:spPr>
          <a:xfrm>
            <a:off x="1141141" y="3707922"/>
            <a:ext cx="4572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solidFill>
                  <a:schemeClr val="bg1"/>
                </a:solidFill>
                <a:latin typeface="Montserrat" panose="00000500000000000000" pitchFamily="2" charset="0"/>
              </a:rPr>
              <a:t>Quyền </a:t>
            </a:r>
            <a:r>
              <a:rPr lang="en-US" dirty="0" err="1">
                <a:solidFill>
                  <a:schemeClr val="bg1"/>
                </a:solidFill>
                <a:latin typeface="Montserrat" panose="00000500000000000000" pitchFamily="2" charset="0"/>
              </a:rPr>
              <a:t>truy</a:t>
            </a:r>
            <a:r>
              <a:rPr lang="en-US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Montserrat" panose="00000500000000000000" pitchFamily="2" charset="0"/>
              </a:rPr>
              <a:t>cập</a:t>
            </a:r>
            <a:r>
              <a:rPr lang="en-US" dirty="0">
                <a:solidFill>
                  <a:schemeClr val="bg1"/>
                </a:solidFill>
                <a:latin typeface="Montserrat" panose="00000500000000000000" pitchFamily="2" charset="0"/>
              </a:rPr>
              <a:t>:</a:t>
            </a:r>
          </a:p>
          <a:p>
            <a:r>
              <a:rPr lang="en-US" dirty="0">
                <a:solidFill>
                  <a:schemeClr val="bg1"/>
                </a:solidFill>
                <a:latin typeface="Montserrat" panose="00000500000000000000" pitchFamily="2" charset="0"/>
              </a:rPr>
              <a:t>r → read</a:t>
            </a:r>
          </a:p>
          <a:p>
            <a:r>
              <a:rPr lang="en-US" dirty="0">
                <a:solidFill>
                  <a:schemeClr val="bg1"/>
                </a:solidFill>
                <a:latin typeface="Montserrat" panose="00000500000000000000" pitchFamily="2" charset="0"/>
              </a:rPr>
              <a:t>w → write</a:t>
            </a:r>
          </a:p>
          <a:p>
            <a:r>
              <a:rPr lang="en-US" dirty="0">
                <a:solidFill>
                  <a:schemeClr val="bg1"/>
                </a:solidFill>
                <a:latin typeface="Montserrat" panose="00000500000000000000" pitchFamily="2" charset="0"/>
              </a:rPr>
              <a:t>x → execute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>
          <a:extLst>
            <a:ext uri="{FF2B5EF4-FFF2-40B4-BE49-F238E27FC236}">
              <a16:creationId xmlns:a16="http://schemas.microsoft.com/office/drawing/2014/main" id="{5FE54F7B-5413-BE22-6181-2CFF32026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4">
            <a:extLst>
              <a:ext uri="{FF2B5EF4-FFF2-40B4-BE49-F238E27FC236}">
                <a16:creationId xmlns:a16="http://schemas.microsoft.com/office/drawing/2014/main" id="{E0FD5367-7C4F-C5B6-07A9-3845A1823B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quyền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215" name="Google Shape;215;p44">
            <a:extLst>
              <a:ext uri="{FF2B5EF4-FFF2-40B4-BE49-F238E27FC236}">
                <a16:creationId xmlns:a16="http://schemas.microsoft.com/office/drawing/2014/main" id="{C1F209BA-53F4-085C-EC10-53BF77A6F5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38500" y="2055934"/>
            <a:ext cx="5715061" cy="8088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n-US" sz="4000" dirty="0" err="1"/>
              <a:t>chown</a:t>
            </a:r>
            <a:r>
              <a:rPr lang="en-US" sz="4000" dirty="0"/>
              <a:t> user file.txt</a:t>
            </a:r>
          </a:p>
        </p:txBody>
      </p:sp>
      <p:cxnSp>
        <p:nvCxnSpPr>
          <p:cNvPr id="216" name="Google Shape;216;p44">
            <a:extLst>
              <a:ext uri="{FF2B5EF4-FFF2-40B4-BE49-F238E27FC236}">
                <a16:creationId xmlns:a16="http://schemas.microsoft.com/office/drawing/2014/main" id="{9F0C20BE-22FA-273A-D5F5-3B4ABD6F7D7F}"/>
              </a:ext>
            </a:extLst>
          </p:cNvPr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2" name="Google Shape;214;p44">
            <a:extLst>
              <a:ext uri="{FF2B5EF4-FFF2-40B4-BE49-F238E27FC236}">
                <a16:creationId xmlns:a16="http://schemas.microsoft.com/office/drawing/2014/main" id="{3C95D42C-264D-5012-2B0C-A330993E82F0}"/>
              </a:ext>
            </a:extLst>
          </p:cNvPr>
          <p:cNvSpPr txBox="1">
            <a:spLocks/>
          </p:cNvSpPr>
          <p:nvPr/>
        </p:nvSpPr>
        <p:spPr>
          <a:xfrm>
            <a:off x="931669" y="2976181"/>
            <a:ext cx="4629300" cy="9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ontserrat ExtraBold"/>
              <a:buNone/>
              <a:defRPr sz="2400" b="0" i="0" u="none" strike="noStrike" cap="none">
                <a:solidFill>
                  <a:schemeClr val="accen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chmod</a:t>
            </a:r>
            <a:endParaRPr lang="en-US" dirty="0"/>
          </a:p>
        </p:txBody>
      </p:sp>
      <p:sp>
        <p:nvSpPr>
          <p:cNvPr id="3" name="Google Shape;215;p44">
            <a:extLst>
              <a:ext uri="{FF2B5EF4-FFF2-40B4-BE49-F238E27FC236}">
                <a16:creationId xmlns:a16="http://schemas.microsoft.com/office/drawing/2014/main" id="{21A7F6D9-8B79-C3AF-5243-2291D2B2260D}"/>
              </a:ext>
            </a:extLst>
          </p:cNvPr>
          <p:cNvSpPr txBox="1">
            <a:spLocks/>
          </p:cNvSpPr>
          <p:nvPr/>
        </p:nvSpPr>
        <p:spPr>
          <a:xfrm>
            <a:off x="938500" y="3513150"/>
            <a:ext cx="6562554" cy="808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139700" indent="0">
              <a:buNone/>
            </a:pPr>
            <a:r>
              <a:rPr lang="en-US" sz="4000"/>
              <a:t>chmod 755 file.sh</a:t>
            </a:r>
            <a:endParaRPr lang="en-US" sz="4000" dirty="0"/>
          </a:p>
        </p:txBody>
      </p:sp>
      <p:sp>
        <p:nvSpPr>
          <p:cNvPr id="4" name="Google Shape;214;p44">
            <a:extLst>
              <a:ext uri="{FF2B5EF4-FFF2-40B4-BE49-F238E27FC236}">
                <a16:creationId xmlns:a16="http://schemas.microsoft.com/office/drawing/2014/main" id="{041E9A19-5F9F-1F96-99F3-72B8726C56C7}"/>
              </a:ext>
            </a:extLst>
          </p:cNvPr>
          <p:cNvSpPr txBox="1">
            <a:spLocks/>
          </p:cNvSpPr>
          <p:nvPr/>
        </p:nvSpPr>
        <p:spPr>
          <a:xfrm>
            <a:off x="994671" y="1518964"/>
            <a:ext cx="4503295" cy="808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ontserrat ExtraBold"/>
              <a:buNone/>
              <a:defRPr sz="2400" b="0" i="0" u="none" strike="noStrike" cap="none">
                <a:solidFill>
                  <a:schemeClr val="accen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chown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C409EC-645C-9708-5907-D85C24DAB7FB}"/>
              </a:ext>
            </a:extLst>
          </p:cNvPr>
          <p:cNvSpPr txBox="1"/>
          <p:nvPr/>
        </p:nvSpPr>
        <p:spPr>
          <a:xfrm>
            <a:off x="2286000" y="4476388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Montserrat" panose="00000500000000000000" pitchFamily="2" charset="0"/>
              </a:rPr>
              <a:t>Các </a:t>
            </a:r>
            <a:r>
              <a:rPr lang="en-US" dirty="0" err="1">
                <a:solidFill>
                  <a:schemeClr val="bg1"/>
                </a:solidFill>
                <a:latin typeface="Montserrat" panose="00000500000000000000" pitchFamily="2" charset="0"/>
              </a:rPr>
              <a:t>lệnh</a:t>
            </a:r>
            <a:r>
              <a:rPr lang="en-US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Montserrat" panose="00000500000000000000" pitchFamily="2" charset="0"/>
              </a:rPr>
              <a:t>này</a:t>
            </a:r>
            <a:r>
              <a:rPr lang="en-US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Montserrat" panose="00000500000000000000" pitchFamily="2" charset="0"/>
              </a:rPr>
              <a:t>giúp</a:t>
            </a:r>
            <a:r>
              <a:rPr lang="en-US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Montserrat" panose="00000500000000000000" pitchFamily="2" charset="0"/>
              </a:rPr>
              <a:t>quản</a:t>
            </a:r>
            <a:r>
              <a:rPr lang="en-US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Montserrat" panose="00000500000000000000" pitchFamily="2" charset="0"/>
              </a:rPr>
              <a:t>lý</a:t>
            </a:r>
            <a:r>
              <a:rPr lang="en-US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Montserrat" panose="00000500000000000000" pitchFamily="2" charset="0"/>
              </a:rPr>
              <a:t>quyền</a:t>
            </a:r>
            <a:r>
              <a:rPr lang="en-US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Montserrat" panose="00000500000000000000" pitchFamily="2" charset="0"/>
              </a:rPr>
              <a:t>truy</a:t>
            </a:r>
            <a:r>
              <a:rPr lang="en-US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Montserrat" panose="00000500000000000000" pitchFamily="2" charset="0"/>
              </a:rPr>
              <a:t>cập</a:t>
            </a:r>
            <a:r>
              <a:rPr lang="en-US" dirty="0">
                <a:solidFill>
                  <a:schemeClr val="bg1"/>
                </a:solidFill>
                <a:latin typeface="Montserrat" panose="00000500000000000000" pitchFamily="2" charset="0"/>
              </a:rPr>
              <a:t> file.</a:t>
            </a:r>
          </a:p>
        </p:txBody>
      </p:sp>
    </p:spTree>
    <p:extLst>
      <p:ext uri="{BB962C8B-B14F-4D97-AF65-F5344CB8AC3E}">
        <p14:creationId xmlns:p14="http://schemas.microsoft.com/office/powerpoint/2010/main" val="3391689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5"/>
          <p:cNvSpPr txBox="1">
            <a:spLocks noGrp="1"/>
          </p:cNvSpPr>
          <p:nvPr>
            <p:ph type="title" idx="4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DEMO</a:t>
            </a:r>
            <a:endParaRPr dirty="0"/>
          </a:p>
        </p:txBody>
      </p:sp>
      <p:cxnSp>
        <p:nvCxnSpPr>
          <p:cNvPr id="222" name="Google Shape;222;p45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09FEAD86-C008-57C0-B69C-E1F22BAF1A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4644" y="1020485"/>
            <a:ext cx="5794712" cy="370899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>
          <a:extLst>
            <a:ext uri="{FF2B5EF4-FFF2-40B4-BE49-F238E27FC236}">
              <a16:creationId xmlns:a16="http://schemas.microsoft.com/office/drawing/2014/main" id="{142F2D18-DFE2-AADF-F429-34B54A43B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4">
            <a:extLst>
              <a:ext uri="{FF2B5EF4-FFF2-40B4-BE49-F238E27FC236}">
                <a16:creationId xmlns:a16="http://schemas.microsoft.com/office/drawing/2014/main" id="{AFC78107-5765-A347-083C-F8925A9E4C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200" dirty="0" err="1"/>
              <a:t>Kết</a:t>
            </a:r>
            <a:r>
              <a:rPr lang="en-US" sz="3200" dirty="0"/>
              <a:t> </a:t>
            </a:r>
            <a:r>
              <a:rPr lang="en-US" sz="3200" dirty="0" err="1"/>
              <a:t>luận</a:t>
            </a:r>
            <a:endParaRPr sz="3200" dirty="0">
              <a:solidFill>
                <a:schemeClr val="accent1"/>
              </a:solidFill>
            </a:endParaRPr>
          </a:p>
        </p:txBody>
      </p:sp>
      <p:sp>
        <p:nvSpPr>
          <p:cNvPr id="215" name="Google Shape;215;p44">
            <a:extLst>
              <a:ext uri="{FF2B5EF4-FFF2-40B4-BE49-F238E27FC236}">
                <a16:creationId xmlns:a16="http://schemas.microsoft.com/office/drawing/2014/main" id="{A607F6F8-4A17-D25F-9286-13AA3A9E33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38500" y="1498373"/>
            <a:ext cx="5715061" cy="8088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vi-VN" sz="1800" dirty="0"/>
              <a:t>Linux cung cấp:</a:t>
            </a:r>
          </a:p>
          <a:p>
            <a:r>
              <a:rPr lang="vi-VN" sz="1800" dirty="0"/>
              <a:t>hệ thống lệnh mạnh mẽ</a:t>
            </a:r>
          </a:p>
          <a:p>
            <a:r>
              <a:rPr lang="vi-VN" sz="1800" dirty="0"/>
              <a:t>quản lý file system hiệu quả</a:t>
            </a:r>
          </a:p>
          <a:p>
            <a:r>
              <a:rPr lang="vi-VN" sz="1800" dirty="0"/>
              <a:t>cơ chế phân quyền bảo mật</a:t>
            </a:r>
          </a:p>
          <a:p>
            <a:r>
              <a:rPr lang="vi-VN" sz="1800" dirty="0"/>
              <a:t>Linux được ứng dụng rộng rãi trong:</a:t>
            </a:r>
          </a:p>
          <a:p>
            <a:r>
              <a:rPr lang="vi-VN" sz="1800" dirty="0"/>
              <a:t>máy chủ</a:t>
            </a:r>
          </a:p>
          <a:p>
            <a:r>
              <a:rPr lang="vi-VN" sz="1800" dirty="0"/>
              <a:t>hệ thống cloud</a:t>
            </a:r>
          </a:p>
          <a:p>
            <a:r>
              <a:rPr lang="vi-VN" sz="1800" dirty="0"/>
              <a:t>trung tâm dữ liệu</a:t>
            </a:r>
          </a:p>
        </p:txBody>
      </p:sp>
      <p:cxnSp>
        <p:nvCxnSpPr>
          <p:cNvPr id="216" name="Google Shape;216;p44">
            <a:extLst>
              <a:ext uri="{FF2B5EF4-FFF2-40B4-BE49-F238E27FC236}">
                <a16:creationId xmlns:a16="http://schemas.microsoft.com/office/drawing/2014/main" id="{F76DD1B7-87DE-4291-592C-FCC4CC2A3E74}"/>
              </a:ext>
            </a:extLst>
          </p:cNvPr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33427232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9"/>
          <p:cNvSpPr txBox="1">
            <a:spLocks noGrp="1"/>
          </p:cNvSpPr>
          <p:nvPr>
            <p:ph type="ctrTitle"/>
          </p:nvPr>
        </p:nvSpPr>
        <p:spPr>
          <a:xfrm>
            <a:off x="1273500" y="1369000"/>
            <a:ext cx="6597000" cy="98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</a:t>
            </a:r>
            <a:endParaRPr dirty="0"/>
          </a:p>
        </p:txBody>
      </p:sp>
      <p:sp>
        <p:nvSpPr>
          <p:cNvPr id="274" name="Google Shape;274;p49"/>
          <p:cNvSpPr txBox="1">
            <a:spLocks noGrp="1"/>
          </p:cNvSpPr>
          <p:nvPr>
            <p:ph type="subTitle" idx="1"/>
          </p:nvPr>
        </p:nvSpPr>
        <p:spPr>
          <a:xfrm>
            <a:off x="2481900" y="2519525"/>
            <a:ext cx="41802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</a:t>
            </a:r>
            <a:r>
              <a:rPr lang="en" dirty="0"/>
              <a:t>hóm 7</a:t>
            </a:r>
            <a:endParaRPr dirty="0"/>
          </a:p>
        </p:txBody>
      </p:sp>
      <p:cxnSp>
        <p:nvCxnSpPr>
          <p:cNvPr id="275" name="Google Shape;275;p49"/>
          <p:cNvCxnSpPr/>
          <p:nvPr/>
        </p:nvCxnSpPr>
        <p:spPr>
          <a:xfrm>
            <a:off x="3190500" y="235427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Futuristic Background by Slidesgo">
  <a:themeElements>
    <a:clrScheme name="Simple Light">
      <a:dk1>
        <a:srgbClr val="001633"/>
      </a:dk1>
      <a:lt1>
        <a:srgbClr val="FFFFFF"/>
      </a:lt1>
      <a:dk2>
        <a:srgbClr val="85D5E6"/>
      </a:dk2>
      <a:lt2>
        <a:srgbClr val="FFAB40"/>
      </a:lt2>
      <a:accent1>
        <a:srgbClr val="FFAB40"/>
      </a:accent1>
      <a:accent2>
        <a:srgbClr val="85D5E6"/>
      </a:accent2>
      <a:accent3>
        <a:srgbClr val="78909C"/>
      </a:accent3>
      <a:accent4>
        <a:srgbClr val="FFAB40"/>
      </a:accent4>
      <a:accent5>
        <a:srgbClr val="0097A7"/>
      </a:accent5>
      <a:accent6>
        <a:srgbClr val="001633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297</Words>
  <Application>Microsoft Office PowerPoint</Application>
  <PresentationFormat>On-screen Show (16:9)</PresentationFormat>
  <Paragraphs>88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Montserrat</vt:lpstr>
      <vt:lpstr>Montserrat ExtraLight</vt:lpstr>
      <vt:lpstr>Arial</vt:lpstr>
      <vt:lpstr>Montserrat ExtraBold</vt:lpstr>
      <vt:lpstr>Futuristic Background by Slidesgo</vt:lpstr>
      <vt:lpstr>Tập lệnh cơ bản của Linux và phân quyền truy cập</vt:lpstr>
      <vt:lpstr>Giới thiệu</vt:lpstr>
      <vt:lpstr>01</vt:lpstr>
      <vt:lpstr>Các lệnh Linux cơ bản</vt:lpstr>
      <vt:lpstr>Quản lý file</vt:lpstr>
      <vt:lpstr>File System trong Linux</vt:lpstr>
      <vt:lpstr>Phân quyền trong Linux </vt:lpstr>
      <vt:lpstr>Lệnh phân quyền</vt:lpstr>
      <vt:lpstr>DEMO</vt:lpstr>
      <vt:lpstr>Kết luận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ĐỨC QUÂN</dc:creator>
  <cp:lastModifiedBy>ĐỨC QUÂN</cp:lastModifiedBy>
  <cp:revision>2</cp:revision>
  <dcterms:modified xsi:type="dcterms:W3CDTF">2026-03-10T17:28:05Z</dcterms:modified>
</cp:coreProperties>
</file>